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9" r:id="rId4"/>
    <p:sldId id="258" r:id="rId5"/>
    <p:sldId id="266" r:id="rId6"/>
    <p:sldId id="268" r:id="rId7"/>
    <p:sldId id="259" r:id="rId8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Bell MT" panose="02020503060305020303" pitchFamily="18" charset="0"/>
      <p:regular r:id="rId11"/>
      <p:bold r:id="rId12"/>
      <p:italic r:id="rId13"/>
    </p:embeddedFont>
    <p:embeddedFont>
      <p:font typeface="Literata" panose="020B0604020202020204" charset="0"/>
      <p:regular r:id="rId14"/>
    </p:embeddedFont>
    <p:embeddedFont>
      <p:font typeface="Quattrocento" panose="020205020300000004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8DD50-6BD3-4C19-ADD1-13CECD201912}" v="28" dt="2026-03-24T16:11:17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5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F443A-7C3E-FA57-7898-5F4E844AF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FF403C-DDDB-34E0-A242-19BA85A3A7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7FBA51-4447-5132-67B8-6C87EDCE65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670383D-D84F-B7B5-C9C0-E16DB1E109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03C933F-278F-FB6C-8264-3EF1A9E042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51C67-F148-C4C9-7B66-81A6439935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9A776-78E7-65CB-A395-4860B2840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6004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3F82C-2422-D8D7-7D93-15A64E7CB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AB3204-A8FE-3EED-3315-0052661170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E61416-AD0E-523F-510A-D47E22E19AD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C56236E-DF35-5AE6-D852-B92525A6F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4B24884-FC54-5F2A-316C-ACD3CFDC93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8FD94-3442-A662-1FD2-AA873C3AE3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DA45D-5E06-E192-C852-B38DDFFA5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94866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D0977-5979-EF1D-4BD8-04AFA0651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DABA63-82DB-0BCF-7B4B-248919BFAFB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F81E5-9B30-4848-FBEF-711D47CF2A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556B9E5-96DA-9877-0A22-C93817095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B82358D-3F4B-A71F-A5ED-DB22F2B2D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B13C9-0057-6FD3-560F-E97AA38A1B2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38E66-2AFF-36AC-803E-DFBD84D623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04422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74BE7-46C3-9AEA-4C80-7DDD14F4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CA01891-C3C2-E398-D43F-17C6AA72C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6B7A2-713A-AD5C-9CDE-61FC13842A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C1B19AF-78DF-49D5-818B-0C51D89B2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412C0C-4ADF-7439-1834-9AFDCA2E17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AA065-4A1C-2087-0E37-FF1DC18A93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F90D8-F4FA-145F-BD49-C614D58169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97850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static.vecteezy.com/e996b305d2c70d7a27a915eb058f8c811ebe4dcd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0000"/>
              </a:blip>
              <a:stretch>
                <a:fillRect l="-13010" r="-1301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0A101A">
                    <a:alpha val="90000"/>
                  </a:srgbClr>
                </a:gs>
                <a:gs pos="100000">
                  <a:srgbClr val="1E3A5F">
                    <a:alpha val="6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22019" y="2314575"/>
            <a:ext cx="8843962" cy="1371600"/>
            <a:chOff x="0" y="0"/>
            <a:chExt cx="11791950" cy="1828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791950" cy="1828800"/>
            </a:xfrm>
            <a:custGeom>
              <a:avLst/>
              <a:gdLst/>
              <a:ahLst/>
              <a:cxnLst/>
              <a:rect l="l" t="t" r="r" b="b"/>
              <a:pathLst>
                <a:path w="11791950" h="1828800">
                  <a:moveTo>
                    <a:pt x="0" y="0"/>
                  </a:moveTo>
                  <a:lnTo>
                    <a:pt x="11791950" y="0"/>
                  </a:lnTo>
                  <a:lnTo>
                    <a:pt x="1179195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5637" b="-75637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200025"/>
              <a:ext cx="11791950" cy="1628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0368"/>
                </a:lnSpc>
              </a:pPr>
              <a:r>
                <a:rPr lang="en-US" sz="10800" b="1" spc="-270" dirty="0">
                  <a:solidFill>
                    <a:srgbClr val="FFFFFF"/>
                  </a:solidFill>
                  <a:latin typeface="Bell MT" panose="02020503060305020303" pitchFamily="18" charset="0"/>
                  <a:ea typeface="Arimo Bold"/>
                  <a:cs typeface="Arimo Bold"/>
                  <a:sym typeface="Arimo Bold"/>
                </a:rPr>
                <a:t>NEBULON </a:t>
              </a:r>
              <a:r>
                <a:rPr lang="en-US" sz="10800" b="1" spc="-270" dirty="0">
                  <a:solidFill>
                    <a:srgbClr val="22D3EE"/>
                  </a:solidFill>
                  <a:latin typeface="Bell MT" panose="02020503060305020303" pitchFamily="18" charset="0"/>
                  <a:ea typeface="Arimo Bold"/>
                  <a:cs typeface="Arimo Bold"/>
                  <a:sym typeface="Arimo Bold"/>
                </a:rPr>
                <a:t>'26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31878" y="3779044"/>
            <a:ext cx="1828800" cy="57150"/>
            <a:chOff x="-130296" y="-2333624"/>
            <a:chExt cx="2438400" cy="76200"/>
          </a:xfrm>
        </p:grpSpPr>
        <p:sp>
          <p:nvSpPr>
            <p:cNvPr id="14" name="Freeform 14"/>
            <p:cNvSpPr/>
            <p:nvPr/>
          </p:nvSpPr>
          <p:spPr>
            <a:xfrm>
              <a:off x="-130296" y="-2333624"/>
              <a:ext cx="2438400" cy="76200"/>
            </a:xfrm>
            <a:custGeom>
              <a:avLst/>
              <a:gdLst/>
              <a:ahLst/>
              <a:cxnLst/>
              <a:rect l="l" t="t" r="r" b="b"/>
              <a:pathLst>
                <a:path w="2438400" h="762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34941" y="3965239"/>
            <a:ext cx="6818118" cy="2696665"/>
            <a:chOff x="0" y="-2632575"/>
            <a:chExt cx="9090823" cy="35955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90823" cy="962977"/>
            </a:xfrm>
            <a:custGeom>
              <a:avLst/>
              <a:gdLst/>
              <a:ahLst/>
              <a:cxnLst/>
              <a:rect l="l" t="t" r="r" b="b"/>
              <a:pathLst>
                <a:path w="9090823" h="962977">
                  <a:moveTo>
                    <a:pt x="0" y="0"/>
                  </a:moveTo>
                  <a:lnTo>
                    <a:pt x="9090823" y="0"/>
                  </a:lnTo>
                  <a:lnTo>
                    <a:pt x="9090823" y="962977"/>
                  </a:lnTo>
                  <a:lnTo>
                    <a:pt x="0" y="9629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7441" r="11359" b="-986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632575"/>
              <a:ext cx="9090823" cy="9629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50"/>
                </a:lnSpc>
              </a:pPr>
              <a:r>
                <a:rPr lang="en-US" sz="3375" spc="84" dirty="0">
                  <a:solidFill>
                    <a:srgbClr val="E2E8F0"/>
                  </a:solidFill>
                  <a:latin typeface="Literata"/>
                  <a:ea typeface="Literata"/>
                  <a:cs typeface="Literata"/>
                  <a:sym typeface="Literata"/>
                </a:rPr>
                <a:t>Round 2 PPT Submission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705962" y="86411"/>
            <a:ext cx="1842068" cy="1412948"/>
            <a:chOff x="0" y="0"/>
            <a:chExt cx="2456091" cy="18839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56053" cy="1883918"/>
            </a:xfrm>
            <a:custGeom>
              <a:avLst/>
              <a:gdLst/>
              <a:ahLst/>
              <a:cxnLst/>
              <a:rect l="l" t="t" r="r" b="b"/>
              <a:pathLst>
                <a:path w="2456053" h="1883918">
                  <a:moveTo>
                    <a:pt x="0" y="0"/>
                  </a:moveTo>
                  <a:lnTo>
                    <a:pt x="2456053" y="0"/>
                  </a:lnTo>
                  <a:lnTo>
                    <a:pt x="2456053" y="1883918"/>
                  </a:lnTo>
                  <a:lnTo>
                    <a:pt x="0" y="1883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630269" y="64160"/>
            <a:ext cx="1575483" cy="1435198"/>
            <a:chOff x="0" y="0"/>
            <a:chExt cx="2100644" cy="191359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00707" cy="1913636"/>
            </a:xfrm>
            <a:custGeom>
              <a:avLst/>
              <a:gdLst/>
              <a:ahLst/>
              <a:cxnLst/>
              <a:rect l="l" t="t" r="r" b="b"/>
              <a:pathLst>
                <a:path w="2100707" h="1913636">
                  <a:moveTo>
                    <a:pt x="0" y="0"/>
                  </a:moveTo>
                  <a:lnTo>
                    <a:pt x="2100707" y="0"/>
                  </a:lnTo>
                  <a:lnTo>
                    <a:pt x="2100707" y="1913636"/>
                  </a:lnTo>
                  <a:lnTo>
                    <a:pt x="0" y="1913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3"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C701BBD9-540F-6997-78A9-0D5A1EA1C8DA}"/>
              </a:ext>
            </a:extLst>
          </p:cNvPr>
          <p:cNvSpPr txBox="1"/>
          <p:nvPr/>
        </p:nvSpPr>
        <p:spPr>
          <a:xfrm>
            <a:off x="2311748" y="5372100"/>
            <a:ext cx="5369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Team Name : Pixel Pair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BE9EB-5D2B-2E9F-45C8-76B64359A25F}"/>
              </a:ext>
            </a:extLst>
          </p:cNvPr>
          <p:cNvSpPr txBox="1"/>
          <p:nvPr/>
        </p:nvSpPr>
        <p:spPr>
          <a:xfrm>
            <a:off x="2287685" y="6339308"/>
            <a:ext cx="5369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Team Members : Prachi Ajay Mule 		        Omkar Khilare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558A2A-BA97-46C9-8F6C-22052A3E7711}"/>
              </a:ext>
            </a:extLst>
          </p:cNvPr>
          <p:cNvSpPr txBox="1"/>
          <p:nvPr/>
        </p:nvSpPr>
        <p:spPr>
          <a:xfrm>
            <a:off x="9565217" y="5372100"/>
            <a:ext cx="5369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Problem Statement : PS2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91CE38-D481-E294-AB2D-A08723881629}"/>
              </a:ext>
            </a:extLst>
          </p:cNvPr>
          <p:cNvSpPr txBox="1"/>
          <p:nvPr/>
        </p:nvSpPr>
        <p:spPr>
          <a:xfrm>
            <a:off x="9581259" y="6256783"/>
            <a:ext cx="5369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  <a:latin typeface="Arimo Bold" panose="020B0604020202020204" charset="0"/>
                <a:ea typeface="Arimo Bold" panose="020B0604020202020204" charset="0"/>
                <a:cs typeface="Arimo Bold" panose="020B0604020202020204" charset="0"/>
              </a:rPr>
              <a:t>Product Name : Wastewise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0D39AA-5353-09E7-B12B-94E86ACB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01" y="86410"/>
            <a:ext cx="3158436" cy="117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69AF400F-D75F-EFE6-2078-E5642C2FF23D}"/>
              </a:ext>
            </a:extLst>
          </p:cNvPr>
          <p:cNvSpPr/>
          <p:nvPr/>
        </p:nvSpPr>
        <p:spPr>
          <a:xfrm>
            <a:off x="3604852" y="86410"/>
            <a:ext cx="3158436" cy="1170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0" name="Picture 2" descr="RV TechLearn Logo">
            <a:extLst>
              <a:ext uri="{FF2B5EF4-FFF2-40B4-BE49-F238E27FC236}">
                <a16:creationId xmlns:a16="http://schemas.microsoft.com/office/drawing/2014/main" id="{29D1C5DE-576A-FB8A-4D8B-6BD2F4171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239" y="86410"/>
            <a:ext cx="3249049" cy="106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101">
            <a:extLst>
              <a:ext uri="{FF2B5EF4-FFF2-40B4-BE49-F238E27FC236}">
                <a16:creationId xmlns:a16="http://schemas.microsoft.com/office/drawing/2014/main" id="{AB2635C3-19AC-6A00-D46E-FA69C29A4D14}"/>
              </a:ext>
            </a:extLst>
          </p:cNvPr>
          <p:cNvSpPr txBox="1"/>
          <p:nvPr/>
        </p:nvSpPr>
        <p:spPr>
          <a:xfrm>
            <a:off x="6511042" y="9706378"/>
            <a:ext cx="5265915" cy="60400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3276"/>
              </a:lnSpc>
            </a:pPr>
            <a:r>
              <a:rPr lang="en-US" sz="2100" dirty="0">
                <a:solidFill>
                  <a:srgbClr val="E2E8F0"/>
                </a:solidFill>
                <a:latin typeface="Quattrocento"/>
                <a:ea typeface="Quattrocento"/>
                <a:cs typeface="Quattrocento"/>
                <a:sym typeface="Quattrocento"/>
              </a:rPr>
              <a:t>NEBULON '26 | TRANSSTADIA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FB6FD5-B17C-0A65-A11E-2D18E9480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144390-A02E-8B74-B6F9-70FB2FD78DC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ECD2AE8-BDD5-8CDD-7CCA-AC5C958798E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067FD90-C73F-B593-5440-194CFD349D81}"/>
              </a:ext>
            </a:extLst>
          </p:cNvPr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6BFA003-69B0-D42E-153C-404CC458563B}"/>
                </a:ext>
              </a:extLst>
            </p:cNvPr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85268ADE-E6EC-298B-877C-DD4EFE21BB08}"/>
              </a:ext>
            </a:extLst>
          </p:cNvPr>
          <p:cNvGrpSpPr/>
          <p:nvPr/>
        </p:nvGrpSpPr>
        <p:grpSpPr>
          <a:xfrm>
            <a:off x="914400" y="571500"/>
            <a:ext cx="6781800" cy="685802"/>
            <a:chOff x="0" y="0"/>
            <a:chExt cx="9042400" cy="9144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6D14A05-2269-F8F2-313B-BF40EB738BAB}"/>
                </a:ext>
              </a:extLst>
            </p:cNvPr>
            <p:cNvSpPr/>
            <p:nvPr/>
          </p:nvSpPr>
          <p:spPr>
            <a:xfrm>
              <a:off x="0" y="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2B477DC-A185-E8A5-6427-5181561DA861}"/>
                </a:ext>
              </a:extLst>
            </p:cNvPr>
            <p:cNvSpPr txBox="1"/>
            <p:nvPr/>
          </p:nvSpPr>
          <p:spPr>
            <a:xfrm>
              <a:off x="0" y="95251"/>
              <a:ext cx="9042400" cy="8191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Identified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002D3EC0-473E-1A73-25CE-91D85666CBC0}"/>
              </a:ext>
            </a:extLst>
          </p:cNvPr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265D27B9-1811-17C0-3D0E-B48DA15CE648}"/>
                </a:ext>
              </a:extLst>
            </p:cNvPr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994CF46B-E7DF-B805-DCFA-9E8DFFBCAAB5}"/>
              </a:ext>
            </a:extLst>
          </p:cNvPr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FB592D43-1052-E8CD-56B4-0041DD3FA78A}"/>
                </a:ext>
              </a:extLst>
            </p:cNvPr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>
              <a:extLst>
                <a:ext uri="{FF2B5EF4-FFF2-40B4-BE49-F238E27FC236}">
                  <a16:creationId xmlns:a16="http://schemas.microsoft.com/office/drawing/2014/main" id="{569907B2-0236-CA76-669D-8CCD1BF90090}"/>
                </a:ext>
              </a:extLst>
            </p:cNvPr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200" name="TextBox 200"/>
          <p:cNvSpPr txBox="1"/>
          <p:nvPr/>
        </p:nvSpPr>
        <p:spPr>
          <a:xfrm>
            <a:off x="571500" y="1600000"/>
            <a:ext cx="17145000" cy="508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Waste management in Indian cities lacks transparency and real-time tracking.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1. Citizens have no way to report or track waste pickup status.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2. Collectors lack a structured system to log and update waste movement.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3. Authorities cannot monitor illegal dumping, missed collections, or fraud.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4. Multiple waste types — organic, recyclable, hazardous, e-waste, medical — are often mixed or mishandled, creating health and 				      environmental hazards.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5. No accountability chain exists from waste generation to final disposal.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chemeClr val="bg1"/>
                </a:solidFill>
                <a:latin typeface="Arimo Bold"/>
              </a:rPr>
              <a:t>Key Issues Found: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mo Bold"/>
              </a:rPr>
              <a:t>1. Illegal dumping near water bodies 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mo Bold"/>
              </a:rPr>
              <a:t>2. Missed garbage collection for days — waste piling on streets.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mo Bold"/>
              </a:rPr>
              <a:t>3. Medical waste mixed with general bins — serious health risk.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mo Bold"/>
              </a:rPr>
              <a:t>4. Collector fraud — skipping hazardous waste from official manifest.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chemeClr val="bg1"/>
                </a:solidFill>
                <a:latin typeface="Arimo Bold"/>
              </a:rPr>
              <a:t>5. E-waste dumped in open grounds — risk of heavy metal contamination.</a:t>
            </a:r>
          </a:p>
        </p:txBody>
      </p:sp>
    </p:spTree>
    <p:extLst>
      <p:ext uri="{BB962C8B-B14F-4D97-AF65-F5344CB8AC3E}">
        <p14:creationId xmlns:p14="http://schemas.microsoft.com/office/powerpoint/2010/main" val="137672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02D45-3173-85AD-1568-1BB06C34C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477BD7-117F-736A-AC6A-CEA1B1E5ECA1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74FD417-80A8-8405-42A7-5A703F8D31DF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1426041-AB00-23F0-BBAD-935BC8A1DAC8}"/>
              </a:ext>
            </a:extLst>
          </p:cNvPr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2822265C-A6F5-E25B-B2D5-E991D993EE61}"/>
                </a:ext>
              </a:extLst>
            </p:cNvPr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A2B8452-23BB-6A53-D872-55496B3BE66E}"/>
              </a:ext>
            </a:extLst>
          </p:cNvPr>
          <p:cNvGrpSpPr/>
          <p:nvPr/>
        </p:nvGrpSpPr>
        <p:grpSpPr>
          <a:xfrm>
            <a:off x="914400" y="571500"/>
            <a:ext cx="6781800" cy="685802"/>
            <a:chOff x="0" y="0"/>
            <a:chExt cx="9042400" cy="9144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7C46AF5C-C260-8C49-86AA-014E58C54A06}"/>
                </a:ext>
              </a:extLst>
            </p:cNvPr>
            <p:cNvSpPr/>
            <p:nvPr/>
          </p:nvSpPr>
          <p:spPr>
            <a:xfrm>
              <a:off x="0" y="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8431916-4EAA-5CD1-BC46-6DC4AF05999A}"/>
                </a:ext>
              </a:extLst>
            </p:cNvPr>
            <p:cNvSpPr txBox="1"/>
            <p:nvPr/>
          </p:nvSpPr>
          <p:spPr>
            <a:xfrm>
              <a:off x="0" y="95251"/>
              <a:ext cx="9042400" cy="8191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Solution / Approach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D174FF0B-6EBD-03E2-D7A3-4612064E1623}"/>
              </a:ext>
            </a:extLst>
          </p:cNvPr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9647AE8B-8716-884E-D2D7-8B1E2455CD66}"/>
                </a:ext>
              </a:extLst>
            </p:cNvPr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740F3DB5-B0FE-C743-42C1-319709351F9F}"/>
              </a:ext>
            </a:extLst>
          </p:cNvPr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84483B55-DF6A-D569-6E28-F8916CA05809}"/>
                </a:ext>
              </a:extLst>
            </p:cNvPr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>
              <a:extLst>
                <a:ext uri="{FF2B5EF4-FFF2-40B4-BE49-F238E27FC236}">
                  <a16:creationId xmlns:a16="http://schemas.microsoft.com/office/drawing/2014/main" id="{144C7B64-B9D7-8D15-B70B-DFC75C497E9F}"/>
                </a:ext>
              </a:extLst>
            </p:cNvPr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 dirty="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300" name="TextBox 300"/>
          <p:cNvSpPr txBox="1"/>
          <p:nvPr/>
        </p:nvSpPr>
        <p:spPr>
          <a:xfrm>
            <a:off x="381000" y="1600000"/>
            <a:ext cx="17335500" cy="5444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WasteWise — A full-stack waste tracking and management platform</a:t>
            </a:r>
          </a:p>
          <a:p>
            <a:pPr algn="l">
              <a:lnSpc>
                <a:spcPts val="2800"/>
              </a:lnSpc>
            </a:pPr>
            <a:endParaRPr lang="en-US" sz="2200" b="1" dirty="0">
              <a:solidFill>
                <a:srgbClr val="22D3EE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For Citizens: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1.Report waste (type, weight, address, zone) and earn reward points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2.Track real-time status of reported waste from pickup to disposal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For Collectors: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1.View and accept assigned waste collection tasks by zone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2.Update waste status at each stage: collected, in-transit, processing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For Authorities: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1.Dashboard with zone-wise analytics, anomaly detection, and audit trail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2.View and manage public reports: illegal dumping, fraud, contamination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3.Monitor collector performance and flag suspicious activities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</p:txBody>
      </p:sp>
    </p:spTree>
    <p:extLst>
      <p:ext uri="{BB962C8B-B14F-4D97-AF65-F5344CB8AC3E}">
        <p14:creationId xmlns:p14="http://schemas.microsoft.com/office/powerpoint/2010/main" val="3315343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571500"/>
            <a:ext cx="7620000" cy="685802"/>
            <a:chOff x="0" y="0"/>
            <a:chExt cx="10160000" cy="9144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1"/>
              <a:ext cx="10160000" cy="8191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 Stack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400" name="TextBox 400"/>
          <p:cNvSpPr txBox="1"/>
          <p:nvPr/>
        </p:nvSpPr>
        <p:spPr>
          <a:xfrm>
            <a:off x="571500" y="1600000"/>
            <a:ext cx="17145000" cy="7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Frontend: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React 18  |  React Router v6  |  Recharts  |  Lucide React  |  React Hot Toast  |  Axios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Backend: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Node.js  |  Express.js  |  REST API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Database: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MongoDB  |  Mongoose ODM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Authentication &amp; Security: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JSON Web Tokens (JWT)  |  bcryptjs  |  CORS  |  dotenv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File Handling: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Multer (image/file upload)  |  UUID (unique ID generation)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Dev Tools: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Nodemon  |  NPM  |  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BA1EAE-B885-443D-4D64-D30821358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BCC882F-F96B-E8C5-036A-9A9361F79658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A1298A-EB1B-6098-DB07-6D158105E1D8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66E62EC7-368A-4170-2332-C80974DC315A}"/>
              </a:ext>
            </a:extLst>
          </p:cNvPr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C9F6B94-31C0-E7F7-FEC7-7B195E5F07DE}"/>
                </a:ext>
              </a:extLst>
            </p:cNvPr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C11FF64-FA84-061B-96DF-35878463B69D}"/>
              </a:ext>
            </a:extLst>
          </p:cNvPr>
          <p:cNvGrpSpPr/>
          <p:nvPr/>
        </p:nvGrpSpPr>
        <p:grpSpPr>
          <a:xfrm>
            <a:off x="914400" y="571500"/>
            <a:ext cx="8001000" cy="685802"/>
            <a:chOff x="0" y="0"/>
            <a:chExt cx="10668000" cy="9144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27F9F5-2AEC-9276-9191-1FA29B9C9FF0}"/>
                </a:ext>
              </a:extLst>
            </p:cNvPr>
            <p:cNvSpPr/>
            <p:nvPr/>
          </p:nvSpPr>
          <p:spPr>
            <a:xfrm>
              <a:off x="0" y="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D4634D-A4B2-5471-29E7-4B81397D035C}"/>
                </a:ext>
              </a:extLst>
            </p:cNvPr>
            <p:cNvSpPr txBox="1"/>
            <p:nvPr/>
          </p:nvSpPr>
          <p:spPr>
            <a:xfrm>
              <a:off x="0" y="95251"/>
              <a:ext cx="10668000" cy="8191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Workflow / Architecture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E24BBB72-4474-8140-D28A-8466CD3AA0B5}"/>
              </a:ext>
            </a:extLst>
          </p:cNvPr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14F9508C-FD8A-75A3-2123-9E4FB8B76D1A}"/>
                </a:ext>
              </a:extLst>
            </p:cNvPr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B85CB598-D8D6-8800-1740-BF35E154381B}"/>
              </a:ext>
            </a:extLst>
          </p:cNvPr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D4A38C15-5837-F524-AD46-AF3771C64534}"/>
                </a:ext>
              </a:extLst>
            </p:cNvPr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>
              <a:extLst>
                <a:ext uri="{FF2B5EF4-FFF2-40B4-BE49-F238E27FC236}">
                  <a16:creationId xmlns:a16="http://schemas.microsoft.com/office/drawing/2014/main" id="{715CCEBF-4071-8987-C533-A0638766D230}"/>
                </a:ext>
              </a:extLst>
            </p:cNvPr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500" name="TextBox 500"/>
          <p:cNvSpPr txBox="1"/>
          <p:nvPr/>
        </p:nvSpPr>
        <p:spPr>
          <a:xfrm>
            <a:off x="571500" y="1600000"/>
            <a:ext cx="17145000" cy="472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System Architecture.</a:t>
            </a:r>
          </a:p>
          <a:p>
            <a:pPr algn="l">
              <a:lnSpc>
                <a:spcPts val="2800"/>
              </a:lnSpc>
            </a:pPr>
            <a:endParaRPr lang="en-US" sz="2200" b="1" dirty="0">
              <a:solidFill>
                <a:srgbClr val="22D3EE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1. Citizen Reports Waste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Login → Submit waste (type, weight, address, zone, photo) → Entry stored in MongoDB.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2. Collector Picks Up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Login → View assigned tasks by zone → Update status: Collected → In-Transit.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3. Processing Facility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Status updated: Processing → Recycled / Disposed. Full timeline recorded.</a:t>
            </a:r>
          </a:p>
          <a:p>
            <a:pPr algn="l">
              <a:lnSpc>
                <a:spcPts val="2800"/>
              </a:lnSpc>
            </a:pPr>
            <a:endParaRPr lang="en-US" sz="19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3B82F6"/>
                </a:solidFill>
                <a:latin typeface="Arimo Bold"/>
              </a:rPr>
              <a:t>4. Authority Dashboard</a:t>
            </a:r>
          </a:p>
          <a:p>
            <a:pPr algn="l">
              <a:lnSpc>
                <a:spcPts val="2800"/>
              </a:lnSpc>
            </a:pPr>
            <a:r>
              <a:rPr lang="en-US" sz="1900" dirty="0">
                <a:solidFill>
                  <a:srgbClr val="CBD5E1"/>
                </a:solidFill>
                <a:latin typeface="Arimo Bold"/>
              </a:rPr>
              <a:t>Real-time stats, zone analytics, anomaly flags, report management.</a:t>
            </a:r>
          </a:p>
        </p:txBody>
      </p:sp>
    </p:spTree>
    <p:extLst>
      <p:ext uri="{BB962C8B-B14F-4D97-AF65-F5344CB8AC3E}">
        <p14:creationId xmlns:p14="http://schemas.microsoft.com/office/powerpoint/2010/main" val="246865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6E672-78A6-56AB-875F-4BC21E2BA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C23D0A-42FF-5DF9-5745-79F468FB3AF3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B67811-00E4-82D7-58C4-7B0A11D0006A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1E3A5F">
                    <a:alpha val="30000"/>
                  </a:srgbClr>
                </a:gs>
                <a:gs pos="100000">
                  <a:srgbClr val="0A101A">
                    <a:alpha val="10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563406F-C8E8-17D5-6A50-1A02A0A92683}"/>
              </a:ext>
            </a:extLst>
          </p:cNvPr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A585A57-EDD9-5016-DDDF-1DA722DDB722}"/>
                </a:ext>
              </a:extLst>
            </p:cNvPr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94EA0152-BF21-B3BA-A69A-499DAF9718A7}"/>
              </a:ext>
            </a:extLst>
          </p:cNvPr>
          <p:cNvGrpSpPr/>
          <p:nvPr/>
        </p:nvGrpSpPr>
        <p:grpSpPr>
          <a:xfrm>
            <a:off x="914400" y="571500"/>
            <a:ext cx="5657850" cy="685800"/>
            <a:chOff x="0" y="0"/>
            <a:chExt cx="7543800" cy="9144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722430E-55E9-1ACA-CA3D-17F4336461F4}"/>
                </a:ext>
              </a:extLst>
            </p:cNvPr>
            <p:cNvSpPr/>
            <p:nvPr/>
          </p:nvSpPr>
          <p:spPr>
            <a:xfrm>
              <a:off x="0" y="0"/>
              <a:ext cx="7543800" cy="914400"/>
            </a:xfrm>
            <a:custGeom>
              <a:avLst/>
              <a:gdLst/>
              <a:ahLst/>
              <a:cxnLst/>
              <a:rect l="l" t="t" r="r" b="b"/>
              <a:pathLst>
                <a:path w="7543800" h="914400">
                  <a:moveTo>
                    <a:pt x="0" y="0"/>
                  </a:moveTo>
                  <a:lnTo>
                    <a:pt x="7543800" y="0"/>
                  </a:lnTo>
                  <a:lnTo>
                    <a:pt x="7543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7033737-D6C8-5109-567C-2D12B5BF51D3}"/>
                </a:ext>
              </a:extLst>
            </p:cNvPr>
            <p:cNvSpPr txBox="1"/>
            <p:nvPr/>
          </p:nvSpPr>
          <p:spPr>
            <a:xfrm>
              <a:off x="0" y="95250"/>
              <a:ext cx="7543800" cy="819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84"/>
                </a:lnSpc>
              </a:pPr>
              <a:r>
                <a:rPr lang="en-US" sz="5400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Impact / Benefits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BC620B55-B23E-7B4A-313B-F2C93C159F1C}"/>
              </a:ext>
            </a:extLst>
          </p:cNvPr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98" name="Freeform 98">
              <a:extLst>
                <a:ext uri="{FF2B5EF4-FFF2-40B4-BE49-F238E27FC236}">
                  <a16:creationId xmlns:a16="http://schemas.microsoft.com/office/drawing/2014/main" id="{B7AC08A1-E097-7316-04D0-A600EA996674}"/>
                </a:ext>
              </a:extLst>
            </p:cNvPr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9" name="Group 99">
            <a:extLst>
              <a:ext uri="{FF2B5EF4-FFF2-40B4-BE49-F238E27FC236}">
                <a16:creationId xmlns:a16="http://schemas.microsoft.com/office/drawing/2014/main" id="{09AFE81F-CE0F-C756-74C1-81E9DFC9827C}"/>
              </a:ext>
            </a:extLst>
          </p:cNvPr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00" name="Freeform 100">
              <a:extLst>
                <a:ext uri="{FF2B5EF4-FFF2-40B4-BE49-F238E27FC236}">
                  <a16:creationId xmlns:a16="http://schemas.microsoft.com/office/drawing/2014/main" id="{0742901F-28DD-52A9-A782-735E1F2A0F6B}"/>
                </a:ext>
              </a:extLst>
            </p:cNvPr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>
              <a:extLst>
                <a:ext uri="{FF2B5EF4-FFF2-40B4-BE49-F238E27FC236}">
                  <a16:creationId xmlns:a16="http://schemas.microsoft.com/office/drawing/2014/main" id="{E1CDB789-41B4-76F2-12DA-42380A3FD342}"/>
                </a:ext>
              </a:extLst>
            </p:cNvPr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600" name="TextBox 600"/>
          <p:cNvSpPr txBox="1"/>
          <p:nvPr/>
        </p:nvSpPr>
        <p:spPr>
          <a:xfrm>
            <a:off x="571500" y="1600000"/>
            <a:ext cx="17145000" cy="5447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For Citizens: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1.Transparent waste tracking from doorstep to disposal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2.Gamified reward points for responsible waste reporting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3.Direct channel to report illegal dumping and contractor fraud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For Municipal Authorities: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1.Real-time dashboards with zone-wise waste analytics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2.Automatic anomaly detection — flags diverted or mishandled waste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3.Complete audit trail for every waste entry (6-stage lifecycle)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  <a:p>
            <a:pPr algn="l">
              <a:lnSpc>
                <a:spcPts val="2800"/>
              </a:lnSpc>
            </a:pPr>
            <a:r>
              <a:rPr lang="en-US" sz="2200" b="1" dirty="0">
                <a:solidFill>
                  <a:srgbClr val="22D3EE"/>
                </a:solidFill>
                <a:latin typeface="Arimo Bold"/>
              </a:rPr>
              <a:t>For the Environment: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1.Reduces illegal dumping near lakes, roads, and open grounds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2.Ensures hazardous/medical/e-waste is properly segregated and processed</a:t>
            </a:r>
          </a:p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CBD5E1"/>
                </a:solidFill>
                <a:latin typeface="Arimo Bold"/>
              </a:rPr>
              <a:t>3.Promotes recycling through tracking organic and recyclable streams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CBD5E1"/>
              </a:solidFill>
              <a:latin typeface="Arimo Bold"/>
            </a:endParaRPr>
          </a:p>
        </p:txBody>
      </p:sp>
    </p:spTree>
    <p:extLst>
      <p:ext uri="{BB962C8B-B14F-4D97-AF65-F5344CB8AC3E}">
        <p14:creationId xmlns:p14="http://schemas.microsoft.com/office/powerpoint/2010/main" val="3685858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https://kimi-web-img.moonshot.cn/img/t3.ftcdn.net/dc7a45a1f3c8bcd254ae3963d08342d5d4be7290.jp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9999"/>
              </a:blip>
              <a:stretch>
                <a:fillRect t="-9260" r="-1" b="-925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" y="40246"/>
            <a:ext cx="18288001" cy="10287000"/>
            <a:chOff x="-2" y="0"/>
            <a:chExt cx="24384001" cy="13716000"/>
          </a:xfrm>
        </p:grpSpPr>
        <p:sp>
          <p:nvSpPr>
            <p:cNvPr id="5" name="Freeform 5"/>
            <p:cNvSpPr/>
            <p:nvPr/>
          </p:nvSpPr>
          <p:spPr>
            <a:xfrm>
              <a:off x="-2" y="0"/>
              <a:ext cx="24384001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A101A">
                    <a:alpha val="100000"/>
                  </a:srgbClr>
                </a:gs>
                <a:gs pos="50000">
                  <a:srgbClr val="0A101A">
                    <a:alpha val="95000"/>
                  </a:srgbClr>
                </a:gs>
                <a:gs pos="100000">
                  <a:srgbClr val="1E3A5F">
                    <a:alpha val="50000"/>
                  </a:srgbClr>
                </a:gs>
              </a:gsLst>
              <a:lin ang="3638535"/>
            </a:gradFill>
          </p:spPr>
          <p:txBody>
            <a:bodyPr/>
            <a:lstStyle/>
            <a:p>
              <a:endParaRPr lang="en-IN" dirty="0">
                <a:highlight>
                  <a:srgbClr val="808080"/>
                </a:highlight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71500" y="571500"/>
            <a:ext cx="114300" cy="685800"/>
            <a:chOff x="0" y="0"/>
            <a:chExt cx="152400" cy="914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400" cy="914400"/>
            </a:xfrm>
            <a:custGeom>
              <a:avLst/>
              <a:gdLst/>
              <a:ahLst/>
              <a:cxnLst/>
              <a:rect l="l" t="t" r="r" b="b"/>
              <a:pathLst>
                <a:path w="152400" h="914400">
                  <a:moveTo>
                    <a:pt x="76200" y="0"/>
                  </a:moveTo>
                  <a:cubicBezTo>
                    <a:pt x="118237" y="0"/>
                    <a:pt x="152400" y="34163"/>
                    <a:pt x="152400" y="76200"/>
                  </a:cubicBezTo>
                  <a:lnTo>
                    <a:pt x="152400" y="838200"/>
                  </a:lnTo>
                  <a:cubicBezTo>
                    <a:pt x="152400" y="880237"/>
                    <a:pt x="118237" y="914400"/>
                    <a:pt x="76200" y="914400"/>
                  </a:cubicBezTo>
                  <a:cubicBezTo>
                    <a:pt x="34163" y="914400"/>
                    <a:pt x="0" y="880237"/>
                    <a:pt x="0" y="838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B82F6">
                    <a:alpha val="100000"/>
                  </a:srgbClr>
                </a:gs>
                <a:gs pos="0">
                  <a:srgbClr val="FFFFFF">
                    <a:alpha val="100000"/>
                  </a:srgbClr>
                </a:gs>
                <a:gs pos="100000">
                  <a:srgbClr val="22D3E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6887377" y="78219"/>
            <a:ext cx="1296648" cy="1112406"/>
            <a:chOff x="0" y="0"/>
            <a:chExt cx="1728864" cy="1483208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1728851" cy="1483233"/>
            </a:xfrm>
            <a:custGeom>
              <a:avLst/>
              <a:gdLst/>
              <a:ahLst/>
              <a:cxnLst/>
              <a:rect l="l" t="t" r="r" b="b"/>
              <a:pathLst>
                <a:path w="1728851" h="1483233">
                  <a:moveTo>
                    <a:pt x="0" y="0"/>
                  </a:moveTo>
                  <a:lnTo>
                    <a:pt x="1728851" y="0"/>
                  </a:lnTo>
                  <a:lnTo>
                    <a:pt x="1728851" y="1483233"/>
                  </a:lnTo>
                  <a:lnTo>
                    <a:pt x="0" y="1483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6511042" y="9775774"/>
            <a:ext cx="5265915" cy="534608"/>
            <a:chOff x="0" y="0"/>
            <a:chExt cx="6504978" cy="660400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6504980" cy="660400"/>
            </a:xfrm>
            <a:custGeom>
              <a:avLst/>
              <a:gdLst/>
              <a:ahLst/>
              <a:cxnLst/>
              <a:rect l="l" t="t" r="r" b="b"/>
              <a:pathLst>
                <a:path w="6504980" h="660400">
                  <a:moveTo>
                    <a:pt x="0" y="0"/>
                  </a:moveTo>
                  <a:lnTo>
                    <a:pt x="6504980" y="0"/>
                  </a:lnTo>
                  <a:lnTo>
                    <a:pt x="6504980" y="660400"/>
                  </a:lnTo>
                  <a:lnTo>
                    <a:pt x="0" y="660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41928" b="-14192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0" y="-85725"/>
              <a:ext cx="6504978" cy="746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76"/>
                </a:lnSpc>
              </a:pPr>
              <a:r>
                <a:rPr lang="en-US" sz="2100">
                  <a:solidFill>
                    <a:srgbClr val="E2E8F0"/>
                  </a:solidFill>
                  <a:latin typeface="Quattrocento"/>
                  <a:ea typeface="Quattrocento"/>
                  <a:cs typeface="Quattrocento"/>
                  <a:sym typeface="Quattrocento"/>
                </a:rPr>
                <a:t>NEBULON '26 | TRANSSTADIA INSTITUTE</a:t>
              </a:r>
            </a:p>
          </p:txBody>
        </p:sp>
      </p:grpSp>
      <p:sp>
        <p:nvSpPr>
          <p:cNvPr id="157" name="TextBox 156">
            <a:extLst>
              <a:ext uri="{FF2B5EF4-FFF2-40B4-BE49-F238E27FC236}">
                <a16:creationId xmlns:a16="http://schemas.microsoft.com/office/drawing/2014/main" id="{D3326FD0-A066-94A2-5D18-730E95272EDF}"/>
              </a:ext>
            </a:extLst>
          </p:cNvPr>
          <p:cNvSpPr txBox="1"/>
          <p:nvPr/>
        </p:nvSpPr>
        <p:spPr>
          <a:xfrm>
            <a:off x="1013912" y="1773346"/>
            <a:ext cx="90444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</a:endParaRPr>
          </a:p>
          <a:p>
            <a:endParaRPr lang="en-US" sz="2000" dirty="0">
              <a:solidFill>
                <a:schemeClr val="bg1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8B3C324A-49A5-05A7-3F8D-254F23172425}"/>
              </a:ext>
            </a:extLst>
          </p:cNvPr>
          <p:cNvSpPr txBox="1"/>
          <p:nvPr/>
        </p:nvSpPr>
        <p:spPr>
          <a:xfrm>
            <a:off x="10220496" y="1873607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bg1"/>
              </a:solidFill>
              <a:latin typeface="Arimo Bold" panose="020B0604020202020204" charset="0"/>
              <a:ea typeface="Arimo Bold" panose="020B0604020202020204" charset="0"/>
              <a:cs typeface="Arimo Bold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477D45-191C-CBFA-ED92-5F3D2A246B14}"/>
              </a:ext>
            </a:extLst>
          </p:cNvPr>
          <p:cNvSpPr txBox="1"/>
          <p:nvPr/>
        </p:nvSpPr>
        <p:spPr>
          <a:xfrm>
            <a:off x="5536156" y="3820061"/>
            <a:ext cx="65607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highlight>
                  <a:srgbClr val="C0C0C0"/>
                </a:highlight>
              </a:rPr>
              <a:t>Thank you</a:t>
            </a:r>
            <a:endParaRPr lang="en-IN" sz="8000" dirty="0">
              <a:highlight>
                <a:srgbClr val="C0C0C0"/>
              </a:highligh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5E44BD3-9E90-F96F-E85A-7B2080854ED8}"/>
              </a:ext>
            </a:extLst>
          </p:cNvPr>
          <p:cNvSpPr/>
          <p:nvPr/>
        </p:nvSpPr>
        <p:spPr>
          <a:xfrm>
            <a:off x="10947186" y="402458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Star: 4 Points 12">
            <a:extLst>
              <a:ext uri="{FF2B5EF4-FFF2-40B4-BE49-F238E27FC236}">
                <a16:creationId xmlns:a16="http://schemas.microsoft.com/office/drawing/2014/main" id="{5D7112C1-4992-4316-3B51-4A6B9C45AB36}"/>
              </a:ext>
            </a:extLst>
          </p:cNvPr>
          <p:cNvSpPr/>
          <p:nvPr/>
        </p:nvSpPr>
        <p:spPr>
          <a:xfrm>
            <a:off x="10969671" y="4088851"/>
            <a:ext cx="914400" cy="771273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640</Words>
  <Application>Microsoft Office PowerPoint</Application>
  <PresentationFormat>Custom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Bell MT</vt:lpstr>
      <vt:lpstr>Literata</vt:lpstr>
      <vt:lpstr>Arimo Bold</vt:lpstr>
      <vt:lpstr>Quattrocento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NEBULON '26 HACKATHON.pptx</dc:title>
  <dc:creator>Miheer</dc:creator>
  <cp:lastModifiedBy>Omkar Khilare</cp:lastModifiedBy>
  <cp:revision>27</cp:revision>
  <dcterms:created xsi:type="dcterms:W3CDTF">2006-08-16T00:00:00Z</dcterms:created>
  <dcterms:modified xsi:type="dcterms:W3CDTF">2026-03-25T06:04:45Z</dcterms:modified>
  <dc:identifier>DAHExtCbsQ4</dc:identifier>
</cp:coreProperties>
</file>